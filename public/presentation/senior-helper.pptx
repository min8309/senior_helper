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목적: 시니어의 일상 참여와 디지털 조작 부담 완화. 첨부된 기존 발표 HTML의 화면 예시를 사용했습니다. 해당 화면의 날씨 값은 재현용 샘플입니다. 임상 효과나 사용자 성과를 입증한 자료는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 수치는 사용자 테스트 기준선을 확보한 뒤 결정합니다. 인지기능 개선·치매 예방·치료 효과를 검증한 프로젝트로 표현하지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src/App.tsx L516–1390. 화면은 현재 체크아웃의 로컬 실행에서 촬영했습니다.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분석용 n8n 워크플로와 AI 모델 서버는 이 저장소에 포함되어 있지 않습니다. 프런트엔드의 호출·응답 처리 코드를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src/services/memoryService.ts, src/services/memoryStorage.ts. 브라우저 저장 공간 부족은 사용자에게 오류를 전달하며, 브라우저 데이터 삭제 시 로컬 기록이 소실될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https://github.com/Min8309/senior_helper/blob/4f16596df5a2f06362b608768274bccaaff6389c/src/services/memoryStorage.ts#L157-L166</a:t>
            </a:r>
          </a:p>
          <a:p>
            <a:r>
              <a:t>기록 생성 시 UUID·생성 시각·동기화 대기 상태를 함께 저장</a:t>
            </a:r>
          </a:p>
          <a:p>
            <a:r>
              <a:t>기억을 먼저 기기에 보관하고 원격 연결을 준비</a:t>
            </a:r>
          </a:p>
          <a:p>
            <a:r>
              <a:t>서버 연결 여부와 입력 경험을 분리합니다. 로컬 저장 실패는 별도로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https://github.com/Min8309/senior_helper/blob/4f16596df5a2f06362b608768274bccaaff6389c/src/services/memoryService.ts#L18-L81</a:t>
            </a:r>
          </a:p>
          <a:p>
            <a:r>
              <a:t>Promise 체인으로 작업을 직렬화하고 ID 기준 upsert 수행</a:t>
            </a:r>
          </a:p>
          <a:p>
            <a:r>
              <a:t>재시도해도 같은 기억 ID를 사용하며 성공 후 대기를 해제</a:t>
            </a:r>
          </a:p>
          <a:p>
            <a:r>
              <a:t>클라이언트 작업 순서와 중복 업로드 대응을 분리해 관리합니다.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https://github.com/Min8309/senior_helper/blob/4f16596df5a2f06362b608768274bccaaff6389c/src/services/voiceRecordService.ts#L47-L61</a:t>
            </a:r>
          </a:p>
          <a:p>
            <a:r>
              <a:t>한국어 연속 인식 결과 목록을 다시 모아 전체 문장 유지</a:t>
            </a:r>
          </a:p>
          <a:p>
            <a:r>
              <a:t>앞서 말한 문장이 사라지지 않고 입력란에 누적</a:t>
            </a:r>
          </a:p>
          <a:p>
            <a:r>
              <a:t>MediaRecorder로 실제 음성도 저장합니다. 브라우저 미지원·인식 실패 시 직접 입력으로 보완합니다.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https://github.com/Min8309/senior_helper/blob/4f16596df5a2f06362b608768274bccaaff6389c/src/services/aiGrandchild.ts#L23-L28</a:t>
            </a:r>
          </a:p>
          <a:p>
            <a:r>
              <a:t>날씨 의도를 우선 확인하고 기기 온도 질문과 구분</a:t>
            </a:r>
          </a:p>
          <a:p>
            <a:r>
              <a:t>날씨는 최신 캐시로 답하고, 가전 질문은 촬영을 제안</a:t>
            </a:r>
          </a:p>
          <a:p>
            <a:r>
              <a:t>현재 일반 대화는 준비된 응답입니다. 생성형 대화 모델 연동은 향후 확장 과제입니다.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https://github.com/Min8309/senior_helper/blob/4f16596df5a2f06362b608768274bccaaff6389c/src/services/applianceService.ts#L84-L92</a:t>
            </a:r>
          </a:p>
          <a:p>
            <a:r>
              <a:t>성공 여부·재촬영 여부·기기명·1~3단계 안내 형식 확인</a:t>
            </a:r>
          </a:p>
          <a:p>
            <a:r>
              <a:t>실패 시 오류 또는 재촬영을 안내하고 임의의 사용법을 만들지 않음</a:t>
            </a:r>
          </a:p>
          <a:p>
            <a:r>
              <a:t>프런트엔드는 응답 계약을 검증합니다. 실제 기기 식별 정확성은 운영 모델로 별도 평가해야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https://github.com/Min8309/senior_helper/blob/4f16596df5a2f06362b608768274bccaaff6389c/src/hooks/useWeather.ts#L28-L47</a:t>
            </a:r>
          </a:p>
          <a:p>
            <a:r>
              <a:t>이전 요청 취소 + 요청 순번 확인 + 8초 타임아웃</a:t>
            </a:r>
          </a:p>
          <a:p>
            <a:r>
              <a:t>선택한 지역의 날씨와 화면 상태를 일치시킴</a:t>
            </a:r>
          </a:p>
          <a:p>
            <a:r>
              <a:t>요청 실패는 마지막 자료를 유지하며 표시합니다. 30분 초과 자료는 오래된 정보로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https://github.com/Min8309/senior_helper/blob/4f16596df5a2f06362b608768274bccaaff6389c/src/services/userService.ts#L27-L37</a:t>
            </a:r>
          </a:p>
          <a:p>
            <a:r>
              <a:t>기존 세션의 사용자를 확인하고 없으면 익명 인증</a:t>
            </a:r>
          </a:p>
          <a:p>
            <a:r>
              <a:t>가입 절차 부담을 낮추면서 인증된 사용자로 원격 저장</a:t>
            </a:r>
          </a:p>
          <a:p>
            <a:r>
              <a:t>익명 세션은 브라우저에 연결됩니다. 기기 간 복구·공유는 영구 계정 설계가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https://github.com/Min8309/senior_helper/blob/4f16596df5a2f06362b608768274bccaaff6389c/supabase_schema.sql#L110-L143</a:t>
            </a:r>
          </a:p>
          <a:p>
            <a:r>
              <a:t>auth.uid()로 DB 소유자와 음성 폴더 소유자 제한</a:t>
            </a:r>
          </a:p>
          <a:p>
            <a:r>
              <a:t>다른 사용자의 기억과 음성에 대한 접근 차단</a:t>
            </a:r>
          </a:p>
          <a:p>
            <a:r>
              <a:t>음성은 비공개 버킷에 보관하며 재생용 URL은 300초로 발급합니다. 실제 Supabase 설정은 별도 적용합니다.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코드 기준: 4f16596df5a2f06362b608768274bccaaff6389c</a:t>
            </a:r>
          </a:p>
          <a:p>
            <a:r>
              <a:t>출처: https://github.com/Min8309/senior_helper/blob/4f16596df5a2f06362b608768274bccaaff6389c/src/App.tsx#L703-L741</a:t>
            </a:r>
          </a:p>
          <a:p>
            <a:r>
              <a:t>시작점 거리 확인·포인터 캡처·진행률과 도착점 확인</a:t>
            </a:r>
          </a:p>
          <a:p>
            <a:r>
              <a:t>시작부터 경로를 따라 이동한 경우에만 단계 완료</a:t>
            </a:r>
          </a:p>
          <a:p>
            <a:r>
              <a:t>이동 중에는 보간한 점의 경로 이탈·과도한 역행도 검사합니다. 핵심은 활동 의도에 맞는 완료 조건입니다.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2026-10-19 동일 클라우드 환경에서 npm test: Playwright 20 passed, Node test 3 passed. npm run build:deploy 통과. 테스트의 모킹 범위는 tests/*.spec.ts 및 playwright.config.ts 참조. 현재 실시간 날씨 API 접근은 환경 정책으로 403 응답이 관찰되었으므로 운영 연결 성공을 주장하지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로드맵은 향후 계획이며 확정된 성능 목표나 완료 사실이 아닙니다. 현장 평가에서 기준선을 확보한 뒤 수치 목표와 우선순위를 조정합니다.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사용자가 제공한 숏폼 링크입니다. 영상 내용을 직접 재생·검토한 것으로 서술하지 않았으며, 파일에 외부 링크와 QR만 삽입했습니다. 온라인 연결이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서비스 주소는 저장소 README의 공개 주소를 사용했습니다. 이번 제작에서 배포 사이트 운영 기능 전체를 재검증하지 않았습니다. 시연 시 카메라·마이크 권한과 외부 서비스 연결 상태를 먼저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services/memoryStorage.ts#L157-L166" TargetMode="External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services/memoryService.ts#L18-L81" TargetMode="External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services/voiceRecordService.ts#L47-L61" TargetMode="External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services/aiGrandchild.ts#L23-L28" TargetMode="External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services/applianceService.ts#L84-L92" TargetMode="External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hooks/useWeather.ts#L28-L47" TargetMode="External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services/userService.ts#L27-L37" TargetMode="External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upabase_schema.sql#L110-L143" TargetMode="External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in8309/senior_helper/blob/4f16596df5a2f06362b608768274bccaaff6389c/src/App.tsx#L703-L741" TargetMode="External"/><Relationship Id="rId3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youtube.com/shorts/F8F46lj6yV8?feature=share" TargetMode="External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nior-helper-seven.vercel.app/" TargetMode="External"/><Relationship Id="rId3" Type="http://schemas.openxmlformats.org/officeDocument/2006/relationships/hyperlink" Target="https://github.com/Min8309/senior_helper" TargetMode="External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3B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3B64B"/>
                </a:solidFill>
                <a:latin typeface="Noto Sans CJK KR"/>
              </a:defRPr>
            </a:pPr>
            <a:r>
              <a:rPr sz="1000" b="1">
                <a:solidFill>
                  <a:srgbClr val="F3B64B"/>
                </a:solidFill>
                <a:latin typeface="Noto Sans CJK KR"/>
              </a:rPr>
              <a:t>SENIOR HELPER   /   PROJECT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FFFFFF"/>
                </a:solidFill>
                <a:latin typeface="Noto Sans CJK KR"/>
              </a:defRPr>
            </a:pPr>
            <a:r>
              <a:rPr sz="2900" b="1">
                <a:solidFill>
                  <a:srgbClr val="FFFFFF"/>
                </a:solidFill>
                <a:latin typeface="Noto Sans CJK KR"/>
              </a:rPr>
              <a:t>시니어 헬퍼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D4E5D8"/>
                </a:solidFill>
                <a:latin typeface="Noto Sans CJK KR"/>
              </a:defRPr>
            </a:pPr>
            <a:r>
              <a:rPr sz="1300" b="0">
                <a:solidFill>
                  <a:srgbClr val="D4E5D8"/>
                </a:solidFill>
                <a:latin typeface="Noto Sans CJK KR"/>
              </a:rPr>
              <a:t>매일의 작은 참여를 돕는 디지털 동반자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456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D4E5D8"/>
                </a:solidFill>
                <a:latin typeface="Noto Sans CJK KR"/>
              </a:defRPr>
            </a:pPr>
            <a:r>
              <a:rPr sz="800" b="0">
                <a:solidFill>
                  <a:srgbClr val="D4E5D8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F3B64B"/>
                </a:solidFill>
                <a:latin typeface="Noto Sans CJK KR"/>
              </a:defRPr>
            </a:pPr>
            <a:r>
              <a:rPr sz="1200" b="1">
                <a:solidFill>
                  <a:srgbClr val="F3B64B"/>
                </a:solidFill>
                <a:latin typeface="Noto Sans CJK K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67712"/>
            <a:ext cx="80467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500" b="1">
                <a:solidFill>
                  <a:srgbClr val="FFFFFF"/>
                </a:solidFill>
                <a:latin typeface="Noto Sans CJK KR"/>
              </a:defRPr>
            </a:pPr>
            <a:r>
              <a:rPr sz="3500" b="1">
                <a:solidFill>
                  <a:srgbClr val="FFFFFF"/>
                </a:solidFill>
                <a:latin typeface="Noto Sans CJK KR"/>
              </a:rPr>
              <a:t>어르신의 오늘에,</a:t>
            </a:r>
          </a:p>
          <a:p>
            <a:pPr>
              <a:spcAft>
                <a:spcPts val="500"/>
              </a:spcAft>
              <a:defRPr sz="3500" b="1">
                <a:solidFill>
                  <a:srgbClr val="FFFFFF"/>
                </a:solidFill>
                <a:latin typeface="Noto Sans CJK KR"/>
              </a:defRPr>
            </a:pPr>
            <a:r>
              <a:rPr sz="3500" b="1">
                <a:solidFill>
                  <a:srgbClr val="FFFFFF"/>
                </a:solidFill>
                <a:latin typeface="Noto Sans CJK KR"/>
              </a:rPr>
              <a:t>친근한 연결을 더하다.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749039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D4E5D8"/>
                </a:solidFill>
                <a:latin typeface="Noto Sans CJK KR"/>
              </a:defRPr>
            </a:pPr>
            <a:r>
              <a:rPr sz="2000" b="0">
                <a:solidFill>
                  <a:srgbClr val="D4E5D8"/>
                </a:solidFill>
                <a:latin typeface="Noto Sans CJK KR"/>
              </a:rPr>
              <a:t>손자·손녀 캐릭터와 함께하는</a:t>
            </a:r>
          </a:p>
          <a:p>
            <a:pPr>
              <a:spcAft>
                <a:spcPts val="500"/>
              </a:spcAft>
              <a:defRPr sz="2000" b="0">
                <a:solidFill>
                  <a:srgbClr val="D4E5D8"/>
                </a:solidFill>
                <a:latin typeface="Noto Sans CJK KR"/>
              </a:defRPr>
            </a:pPr>
            <a:r>
              <a:rPr sz="2000" b="0">
                <a:solidFill>
                  <a:srgbClr val="D4E5D8"/>
                </a:solidFill>
                <a:latin typeface="Noto Sans CJK KR"/>
              </a:rPr>
              <a:t>두뇌 운동 · 대화 · 기억 기록 · 생활 도움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5074920"/>
            <a:ext cx="1554480" cy="365760"/>
          </a:xfrm>
          <a:prstGeom prst="roundRect">
            <a:avLst>
              <a:gd name="adj" fmla="val 13000"/>
            </a:avLst>
          </a:prstGeom>
          <a:solidFill>
            <a:srgbClr val="F3B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512521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0253E"/>
                </a:solidFill>
                <a:latin typeface="Noto Sans CJK KR"/>
              </a:defRPr>
            </a:pPr>
            <a:r>
              <a:rPr sz="1000" b="1">
                <a:solidFill>
                  <a:srgbClr val="20253E"/>
                </a:solidFill>
                <a:latin typeface="Noto Sans CJK KR"/>
              </a:rPr>
              <a:t>시니어 중심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9152" y="5074920"/>
            <a:ext cx="1645920" cy="365760"/>
          </a:xfrm>
          <a:prstGeom prst="roundRect">
            <a:avLst>
              <a:gd name="adj" fmla="val 13000"/>
            </a:avLst>
          </a:prstGeom>
          <a:solidFill>
            <a:srgbClr val="F3B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512521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0253E"/>
                </a:solidFill>
                <a:latin typeface="Noto Sans CJK KR"/>
              </a:defRPr>
            </a:pPr>
            <a:r>
              <a:rPr sz="1000" b="1">
                <a:solidFill>
                  <a:srgbClr val="20253E"/>
                </a:solidFill>
                <a:latin typeface="Noto Sans CJK KR"/>
              </a:rPr>
              <a:t>음성 + 터치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5074920"/>
            <a:ext cx="1828800" cy="365760"/>
          </a:xfrm>
          <a:prstGeom prst="roundRect">
            <a:avLst>
              <a:gd name="adj" fmla="val 13000"/>
            </a:avLst>
          </a:prstGeom>
          <a:solidFill>
            <a:srgbClr val="F3B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9392" y="512521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0253E"/>
                </a:solidFill>
                <a:latin typeface="Noto Sans CJK KR"/>
              </a:defRPr>
            </a:pPr>
            <a:r>
              <a:rPr sz="1000" b="1">
                <a:solidFill>
                  <a:srgbClr val="20253E"/>
                </a:solidFill>
                <a:latin typeface="Noto Sans CJK KR"/>
              </a:rPr>
              <a:t>실제 코드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68512" y="868680"/>
            <a:ext cx="2536441" cy="5340096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home-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932688"/>
            <a:ext cx="2408426" cy="5212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1792" y="5943600"/>
            <a:ext cx="74980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4E5D8"/>
                </a:solidFill>
                <a:latin typeface="Noto Sans CJK KR"/>
              </a:defRPr>
            </a:pPr>
            <a:r>
              <a:rPr sz="1000" b="0">
                <a:solidFill>
                  <a:srgbClr val="D4E5D8"/>
                </a:solidFill>
                <a:latin typeface="Noto Sans CJK KR"/>
              </a:rPr>
              <a:t>PROJECT PLANNING × ACCESSIBLE UX × WEB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01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기획 의도 | 어려운 기술보다, 익숙한 경험부터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기능을 많이 제공하는 것보다 스스로 시작하고 끝낼 수 있는 경험을 우선합니다.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3502152" cy="32461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23160"/>
            <a:ext cx="30998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01  정서적 진입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16936"/>
            <a:ext cx="30998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친근하게 시작하기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93592"/>
            <a:ext cx="3099816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손자·손녀 캐릭터와 인사말로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첫 화면의 거리감을 낮춥니다.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240280"/>
            <a:ext cx="3502152" cy="32461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423160"/>
            <a:ext cx="30998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02  조작의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916936"/>
            <a:ext cx="30998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선택을 단순하게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3593592"/>
            <a:ext cx="3099816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복잡한 메뉴 대신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네 가지 핵심 행동을 제시합니다.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240280"/>
            <a:ext cx="3502152" cy="32461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2423160"/>
            <a:ext cx="30998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03  일상의 연결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2916936"/>
            <a:ext cx="309981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기록과 도움으로 이어가기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3593592"/>
            <a:ext cx="3099816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말과 글로 오늘을 남기고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사진으로 기기 사용을 묻습니다.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852160"/>
            <a:ext cx="10789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6734D"/>
                </a:solidFill>
                <a:latin typeface="Noto Sans CJK KR"/>
              </a:defRPr>
            </a:pPr>
            <a:r>
              <a:rPr sz="1200" b="0">
                <a:solidFill>
                  <a:srgbClr val="26734D"/>
                </a:solidFill>
                <a:latin typeface="Noto Sans CJK KR"/>
              </a:rPr>
              <a:t>설계 가설: 친근한 안내와 짧은 활동이 반복 참여를 돕는다. 실제 효과는 사용자 평가로 확인할 계획입니다.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01 WHO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타겟 | 디지털 조작에 도움이 필요한 시니어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핵심 사용자는 70대 이상 어르신으로 설정하되, 실제 사용 능력의 차이를 고려합니다.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94560"/>
            <a:ext cx="5440680" cy="34747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377440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PRIMARY 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871215"/>
            <a:ext cx="50383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어르신 본인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47872"/>
            <a:ext cx="5038344" cy="2011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작은 글씨·복잡한 단계가 부담인 사용자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말하기·터치 중 편한 방식을 선택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혼자서도 짧은 활동을 시작하고 마무리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194560"/>
            <a:ext cx="5440680" cy="347472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SUPPORTING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71215"/>
            <a:ext cx="50383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가족 · 생활 지원자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47872"/>
            <a:ext cx="5038344" cy="2011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초기 화면과 권한 설정을 함께 확인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기록·훈련 사용 방법을 안내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향후 현장 평가에 협력할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961888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68756E"/>
                </a:solidFill>
                <a:latin typeface="Noto Sans CJK KR"/>
              </a:defRPr>
            </a:pPr>
            <a:r>
              <a:rPr sz="1100" b="0">
                <a:solidFill>
                  <a:srgbClr val="68756E"/>
                </a:solidFill>
                <a:latin typeface="Noto Sans CJK KR"/>
              </a:rPr>
              <a:t>타겟 정의는 프로젝트 기획 기준입니다. 보호자 전용 화면·원격 모니터링 기능은 현재 범위에 포함하지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01 PURPOSE &amp;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목적과 목표 | 짧은 행동이 일상의 습관이 되도록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제품 목적과 향후 측정할 목표를 구분합니다. 아래 지표는 현재 성과 수치가 아닙니다.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74980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6734D"/>
                </a:solidFill>
                <a:latin typeface="Noto Sans CJK KR"/>
              </a:defRPr>
            </a:pPr>
            <a:r>
              <a:rPr sz="1700" b="1">
                <a:solidFill>
                  <a:srgbClr val="26734D"/>
                </a:solidFill>
                <a:latin typeface="Noto Sans CJK KR"/>
              </a:rPr>
              <a:t>사용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3317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첫 핵심 행동까지 단계 축소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3317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첫 행동 완료율 · 소요 시간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63240"/>
            <a:ext cx="11064240" cy="749808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6734D"/>
                </a:solidFill>
                <a:latin typeface="Noto Sans CJK KR"/>
              </a:defRPr>
            </a:pPr>
            <a:r>
              <a:rPr sz="1700" b="1">
                <a:solidFill>
                  <a:srgbClr val="26734D"/>
                </a:solidFill>
                <a:latin typeface="Noto Sans CJK KR"/>
              </a:rPr>
              <a:t>반복 참여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461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짧은 두뇌 활동과 일상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2461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재방문율 · 주간 활동 일수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64240" cy="74980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6734D"/>
                </a:solidFill>
                <a:latin typeface="Noto Sans CJK KR"/>
              </a:defRPr>
            </a:pPr>
            <a:r>
              <a:rPr sz="1700" b="1">
                <a:solidFill>
                  <a:srgbClr val="26734D"/>
                </a:solidFill>
                <a:latin typeface="Noto Sans CJK KR"/>
              </a:rPr>
              <a:t>자기 표현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1605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음성·글 중 편한 방식으로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1605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기억 저장 완료율 · 중도 이탈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92040"/>
            <a:ext cx="11064240" cy="749808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7492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6734D"/>
                </a:solidFill>
                <a:latin typeface="Noto Sans CJK KR"/>
              </a:defRPr>
            </a:pPr>
            <a:r>
              <a:rPr sz="1700" b="1">
                <a:solidFill>
                  <a:srgbClr val="26734D"/>
                </a:solidFill>
                <a:latin typeface="Noto Sans CJK KR"/>
              </a:rPr>
              <a:t>실패 회복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0749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오류를 알리고 재시도 가능하게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07492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저장 실패율 · 재시도 성공률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02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경험 | 네 가지 행동으로 일상과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홈의 2×2 기능 버튼을 중심으로 서비스의 목적을 드러냅니다.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5422392" cy="175564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350008"/>
            <a:ext cx="54864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400300"/>
            <a:ext cx="3657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774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0253E"/>
                </a:solidFill>
                <a:latin typeface="Noto Sans CJK KR"/>
              </a:defRPr>
            </a:pPr>
            <a:r>
              <a:rPr sz="2200" b="1">
                <a:solidFill>
                  <a:srgbClr val="20253E"/>
                </a:solidFill>
                <a:latin typeface="Noto Sans CJK KR"/>
              </a:rPr>
              <a:t>오늘의 두뇌 운동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04495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다섯 종류 · 게임별 10단계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48840"/>
            <a:ext cx="5422392" cy="175564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19088" y="2350008"/>
            <a:ext cx="54864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7" y="2400300"/>
            <a:ext cx="3657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3774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0253E"/>
                </a:solidFill>
                <a:latin typeface="Noto Sans CJK KR"/>
              </a:defRPr>
            </a:pPr>
            <a:r>
              <a:rPr sz="2200" b="1">
                <a:solidFill>
                  <a:srgbClr val="20253E"/>
                </a:solidFill>
                <a:latin typeface="Noto Sans CJK KR"/>
              </a:rPr>
              <a:t>손자·손녀에게 물어보기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044952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음성·글 질문 · 의도에 따른 안내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33087"/>
            <a:ext cx="5422392" cy="175564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9808" y="4334255"/>
            <a:ext cx="54864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384547"/>
            <a:ext cx="3657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36168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0253E"/>
                </a:solidFill>
                <a:latin typeface="Noto Sans CJK KR"/>
              </a:defRPr>
            </a:pPr>
            <a:r>
              <a:rPr sz="2200" b="1">
                <a:solidFill>
                  <a:srgbClr val="20253E"/>
                </a:solidFill>
                <a:latin typeface="Noto Sans CJK KR"/>
              </a:rPr>
              <a:t>오늘의 기억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0292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실제 경험 기록 · 음성 다시 듣기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133087"/>
            <a:ext cx="5422392" cy="1755648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19088" y="4334255"/>
            <a:ext cx="54864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7" y="4384547"/>
            <a:ext cx="36575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36168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0253E"/>
                </a:solidFill>
                <a:latin typeface="Noto Sans CJK KR"/>
              </a:defRPr>
            </a:pPr>
            <a:r>
              <a:rPr sz="2200" b="1">
                <a:solidFill>
                  <a:srgbClr val="20253E"/>
                </a:solidFill>
                <a:latin typeface="Noto Sans CJK KR"/>
              </a:rPr>
              <a:t>기기 사진 찍기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0292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촬영 · 분석 서버 요청 · 쉬운 단계 안내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02 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사용 흐름 | 인사에서 참여, 기록, 다시 방문까지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어르신이 행동할 때마다 다음 단계를 쉽게 찾도록 설계합니다.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2606040" cy="29718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1460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00837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인사·선택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685031"/>
            <a:ext cx="2203704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이름과 캐릭터로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홈에 친숙해지기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606040" cy="29718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51460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00837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짧은 참여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685031"/>
            <a:ext cx="2203704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두뇌 운동이나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음성 질문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331720"/>
            <a:ext cx="2606040" cy="29718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51460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300837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오늘의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685031"/>
            <a:ext cx="2203704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말·글로 남기고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실제 목소리 듣기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331720"/>
            <a:ext cx="2606040" cy="29718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51460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00837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생활 도움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3685031"/>
            <a:ext cx="2203704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날씨 확인·촬영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필요한 순간 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6072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6734D"/>
                </a:solidFill>
                <a:latin typeface="Noto Sans CJK KR"/>
              </a:defRPr>
            </a:pPr>
            <a:r>
              <a:rPr sz="1500" b="1">
                <a:solidFill>
                  <a:srgbClr val="26734D"/>
                </a:solidFill>
                <a:latin typeface="Noto Sans CJK KR"/>
              </a:rPr>
              <a:t>일관된 원칙: 큰 조작 영역  /  쉬운 한국어  /  오류 안내  /  사용자가 선택하는 권한 요청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02 ACCESSIBLE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화면 설계 | 한 화면에 보이는 주요 행동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모바일 중심 레이아웃과 친숙한 영상 캐릭터를 결합했습니다.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93392"/>
            <a:ext cx="2020954" cy="4224528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-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1892938" cy="409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040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명확한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58775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이름이 반영된 인사와 손자·손녀 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127248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큰 행동 버튼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204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네 가지 기능을 2×2로 묶어 탐색 부담 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059935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상세 정보는 펼쳐서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5312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날씨 상태는 간결하게, 상세 정보는 누르면 표시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992624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편한 입력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858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터치·글·음성을 상황에 따라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6053328"/>
            <a:ext cx="8046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8756E"/>
                </a:solidFill>
                <a:latin typeface="Noto Sans CJK KR"/>
              </a:defRPr>
            </a:pPr>
            <a:r>
              <a:rPr sz="1000" b="0">
                <a:solidFill>
                  <a:srgbClr val="68756E"/>
                </a:solidFill>
                <a:latin typeface="Noto Sans CJK KR"/>
              </a:rPr>
              <a:t>첨부 발표 HTML의 실행 화면 예시 · 날씨 값은 재현용 샘플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02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두뇌 운동 | 다섯 활동, 열 단계의 작은 도전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난이도는 숫자 개수·경로 폭·기억 길이·짝 개수로 점진적으로 바뀝니다.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08592" y="1856232"/>
            <a:ext cx="2092784" cy="4379976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920240"/>
            <a:ext cx="1964768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21488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숫자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17627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누를 숫자 3개 → 최대 12개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4378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선 따라 긋기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71216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단계가 오르면 경로 폭 감소·굴곡 증가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38728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색상 단추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56616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색상 개수 2개 → 최대 6개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33672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소리·불빛 기억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261104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기억 순서 길이 3개 → 12개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28616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26734D"/>
                </a:solidFill>
                <a:latin typeface="Noto Sans CJK KR"/>
              </a:defRPr>
            </a:pPr>
            <a:r>
              <a:rPr sz="1800" b="1">
                <a:solidFill>
                  <a:srgbClr val="26734D"/>
                </a:solidFill>
                <a:latin typeface="Noto Sans CJK KR"/>
              </a:rPr>
              <a:t>그림 짝 맞추기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956048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짝 개수 2쌍 → 최대 8쌍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68756E"/>
                </a:solidFill>
                <a:latin typeface="Noto Sans CJK KR"/>
              </a:defRPr>
            </a:pPr>
            <a:r>
              <a:rPr sz="1100" b="0">
                <a:solidFill>
                  <a:srgbClr val="68756E"/>
                </a:solidFill>
                <a:latin typeface="Noto Sans CJK KR"/>
              </a:rPr>
              <a:t>일상 활동을 돕는 게임 구현입니다. 의학적 개선 효과는 별도 검증 대상입니다.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02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기술 구조 | 화면·서비스·저장 책임을 나누다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브라우저 기본 기능을 활용하고, 외부 연결은 서비스 계층에서 처리합니다.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423160"/>
            <a:ext cx="3337560" cy="20574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6734D"/>
                </a:solidFill>
                <a:latin typeface="Noto Sans CJK KR"/>
              </a:defRPr>
            </a:pPr>
            <a:r>
              <a:rPr sz="1600" b="1">
                <a:solidFill>
                  <a:srgbClr val="26734D"/>
                </a:solidFill>
                <a:latin typeface="Noto Sans CJK KR"/>
              </a:rPr>
              <a:t>REACT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App · 화면 컴포넌트</a:t>
            </a:r>
          </a:p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홈 / 훈련 / 기억 / 생활 도움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423160"/>
            <a:ext cx="3337560" cy="20574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6734D"/>
                </a:solidFill>
                <a:latin typeface="Noto Sans CJK KR"/>
              </a:defRPr>
            </a:pPr>
            <a:r>
              <a:rPr sz="1600" b="1">
                <a:solidFill>
                  <a:srgbClr val="26734D"/>
                </a:solidFill>
                <a:latin typeface="Noto Sans CJK KR"/>
              </a:rPr>
              <a:t>SERVICE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3756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memory · voice · weather</a:t>
            </a:r>
          </a:p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conversation · appliance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2423160"/>
            <a:ext cx="3337560" cy="205740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6734D"/>
                </a:solidFill>
                <a:latin typeface="Noto Sans CJK KR"/>
              </a:defRPr>
            </a:pPr>
            <a:r>
              <a:rPr sz="1600" b="1">
                <a:solidFill>
                  <a:srgbClr val="26734D"/>
                </a:solidFill>
                <a:latin typeface="Noto Sans CJK KR"/>
              </a:rPr>
              <a:t>DATA &amp;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33756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LocalStorage / Browser APIs</a:t>
            </a:r>
          </a:p>
          <a:p>
            <a:pPr>
              <a:spcAft>
                <a:spcPts val="500"/>
              </a:spcAft>
              <a:defRPr sz="1600" b="0">
                <a:solidFill>
                  <a:srgbClr val="20253E"/>
                </a:solidFill>
                <a:latin typeface="Noto Sans CJK KR"/>
              </a:defRPr>
            </a:pPr>
            <a:r>
              <a:rPr sz="1600" b="0">
                <a:solidFill>
                  <a:srgbClr val="20253E"/>
                </a:solidFill>
                <a:latin typeface="Noto Sans CJK KR"/>
              </a:rPr>
              <a:t>Supabase / Open-Meteo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2004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6734D"/>
                </a:solidFill>
                <a:latin typeface="Noto Sans CJK KR"/>
              </a:defRPr>
            </a:pPr>
            <a:r>
              <a:rPr sz="2200" b="1">
                <a:solidFill>
                  <a:srgbClr val="26734D"/>
                </a:solidFill>
                <a:latin typeface="Noto Sans CJK KR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2004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26734D"/>
                </a:solidFill>
                <a:latin typeface="Noto Sans CJK KR"/>
              </a:defRPr>
            </a:pPr>
            <a:r>
              <a:rPr sz="2200" b="1">
                <a:solidFill>
                  <a:srgbClr val="26734D"/>
                </a:solidFill>
                <a:latin typeface="Noto Sans CJK K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37760"/>
            <a:ext cx="11018520" cy="86868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66360"/>
            <a:ext cx="10561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26734D"/>
                </a:solidFill>
                <a:latin typeface="Noto Sans CJK KR"/>
              </a:defRPr>
            </a:pPr>
            <a:r>
              <a:rPr sz="1600" b="1">
                <a:solidFill>
                  <a:srgbClr val="26734D"/>
                </a:solidFill>
                <a:latin typeface="Noto Sans CJK KR"/>
              </a:rPr>
              <a:t>사진 분석 확장: React → n8n / 별도 백엔드 → 비전 모델 → 응답 검증 → 쉬운 한국어 안내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02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기술 | 기술 선택을 사용자 가치로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기술 이름을 나열하는 대신, 각 계층의 역할과 선택 이유를 설명합니다.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57400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React 19 · TypeScript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2128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화면 상태와 데이터 계약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21284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훈련 진행·기억 입력·응답 형태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825496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80944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Vite 8 · Tailwind CSS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80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빌드·스타일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8094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빠른 개발과 모바일 화면 구성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593591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4903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Web Speech · MediaRecorder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74903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인식·낭독·실제 음성 녹음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749039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말로 입력하고 자신의 목소리 재생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361688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17136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LocalStorage · Supabase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5171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로컬 보관·선택적 원격 동기화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51713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서버 미설정·일시 실패에도 기록 보존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129783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852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Open-Meteo · n8n Webhook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285231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날씨 조회·사진 분석 연결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285231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생활 맥락 제공과 외부 AI 확장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기록 흐름 | 먼저 보관하고, 연결되면 동기화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사용자에게 중요한 것은 기록이 사라지지 않고, 상태를 이해할 수 있는 것입니다.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40280"/>
            <a:ext cx="2606040" cy="28346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42316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91693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593592"/>
            <a:ext cx="2203704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글 / 녹음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UUID 부여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240280"/>
            <a:ext cx="2606040" cy="28346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242316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291693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로컬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3593592"/>
            <a:ext cx="2203704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sync_pending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기기에서 유지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240280"/>
            <a:ext cx="2606040" cy="28346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242316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91693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인증·동기화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593592"/>
            <a:ext cx="2203704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서버 발급 ID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음성 업로드·upsert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2240280"/>
            <a:ext cx="2606040" cy="28346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9448" y="2423160"/>
            <a:ext cx="220370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2916936"/>
            <a:ext cx="22037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상태 갱신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9448" y="3593592"/>
            <a:ext cx="2203704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성공: pending 해제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실패: 보관·재시도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0468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6734D"/>
                </a:solidFill>
                <a:latin typeface="Noto Sans CJK KR"/>
              </a:defRPr>
            </a:pPr>
            <a:r>
              <a:rPr sz="1600" b="0">
                <a:solidFill>
                  <a:srgbClr val="26734D"/>
                </a:solidFill>
                <a:latin typeface="Noto Sans CJK KR"/>
              </a:rPr>
              <a:t>삭제도 재시도 대상으로 보관합니다. 음성 파일을 먼저 삭제한 뒤 DB 기록을 삭제해, 실패한 파일 경로를 잃지 않도록 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01 | UUID와 로컬 우선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같은 기록의 ID를 유지하고, 동기화 대상 상태를 명시합니다.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src/services/memoryStorage.ts  ·  L157–166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157    saveMemory(item: Omit&lt;MemoryItem, "id" | "created_at"&gt;): MemoryItem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158      const text = item.display_text || formatDisplayText(item.original_text)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159      return this.putMemory({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160        ...item,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161        id: crypto.randomUUID(),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162        display_text: text,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163        summary: text,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164        created_at: new Date().toISOString(),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165        sync_pending: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62" b="0">
                <a:solidFill>
                  <a:srgbClr val="EDF5F0"/>
                </a:solidFill>
                <a:latin typeface="DejaVu Sans Mono"/>
              </a:defRPr>
            </a:pPr>
            <a:r>
              <a:rPr sz="1062" b="0">
                <a:solidFill>
                  <a:srgbClr val="EDF5F0"/>
                </a:solidFill>
                <a:latin typeface="DejaVu Sans Mono"/>
              </a:rPr>
              <a:t>166      })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기록 생성 시 UUID·생성 시각·동기화 대기 상태를 함께 저장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기억을 먼저 기기에 보관하고 원격 연결을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서버 연결 여부와 입력 경험을 분리합니다. 로컬 저장 실패는 별도로 처리합니다.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01  /  09     원본 코드 열기 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02 | 동기화 작업의 순서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같은 탭에서 저장·조회·삭제가 교차하며 캐시를 덮어쓰지 않도록 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src/services/memoryService.ts  ·  L18–21, L77–81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18  function run&lt;T&gt;(action: () =&gt; Promise&lt;T&gt;): Promise&lt;T&gt;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19    const result = operations.then(action)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20    operations = result.catch(() =&gt; {})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21    return result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    // …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77      const { error } = await supabase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78        .from("memories")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79        .upsert(row, { onConflict: "id" })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80      if (error) throw error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81      memoryStorage.putMemory({ ...item, sync_pending: false })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Promise 체인으로 작업을 직렬화하고 ID 기준 upsert 수행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재시도해도 같은 기억 ID를 사용하며 성공 후 대기를 해제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클라이언트 작업 순서와 중복 업로드 대응을 분리해 관리합니다.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02  /  09     원본 코드 열기 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03 | 말한 문장을 이어서 기록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음성 인식 텍스트와 실제 녹음 파일은 서로 다른 데이터로 관리합니다.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src/services/voiceRecordService.ts  ·  L47–61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47          this.recognition = new Recognition()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48          this.recognition.lang = "ko-KR"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49          this.recognition.continuous = true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50          this.recognition.interimResults = true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51          this.recognition.onresult = (event: any) =&gt;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52            if (generation !== this.generation) return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53            // continuous 결과 목록 전체를 사용해 이전 확정 문장을 유지합니다.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54            this.transcript = Array.from(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55              event.results as ArrayLike&lt;any&gt;,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56              (result) =&gt; result[0].transcript,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57            )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58              .join(" ")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59              .trim()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60            onTranscriptUpdate?.(this.transcript)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200" b="0">
                <a:solidFill>
                  <a:srgbClr val="EDF5F0"/>
                </a:solidFill>
                <a:latin typeface="DejaVu Sans Mono"/>
              </a:defRPr>
            </a:pPr>
            <a:r>
              <a:rPr sz="1200" b="0">
                <a:solidFill>
                  <a:srgbClr val="EDF5F0"/>
                </a:solidFill>
                <a:latin typeface="DejaVu Sans Mono"/>
              </a:rPr>
              <a:t> 61         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한국어 연속 인식 결과 목록을 다시 모아 전체 문장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앞서 말한 문장이 사라지지 않고 입력란에 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MediaRecorder로 실제 음성도 저장합니다. 브라우저 미지원·인식 실패 시 직접 입력으로 보완합니다.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03  /  09     원본 코드 열기 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04 | 질문 의도를 기능으로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키워드 기반 분기로 날씨와 가전 질문을 구분합니다.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src/services/aiGrandchild.ts  ·  L23–28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23    const weatherQuestion = ["날씨", "기온", "습도", "체감온도", "비가", "비 와", "추워",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    "더워"].some(word =&gt; lower.includes(word)) ||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24      (lower.includes("온도") &amp;&amp; !["에어컨", "보일러", "리모컨", "냉장고", "전자레인지", "밥솥",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    "기기"].some(word =&gt; lower.includes(word)));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25    if (weatherQuestion) return { answer: weatherAnswer(), isApplianceQuestion: false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    };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26  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27    // 1. 전자기기/가전제품 관련 질문 감지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65" b="0">
                <a:solidFill>
                  <a:srgbClr val="EDF5F0"/>
                </a:solidFill>
                <a:latin typeface="DejaVu Sans Mono"/>
              </a:defRPr>
            </a:pPr>
            <a:r>
              <a:rPr sz="965" b="0">
                <a:solidFill>
                  <a:srgbClr val="EDF5F0"/>
                </a:solidFill>
                <a:latin typeface="DejaVu Sans Mono"/>
              </a:rPr>
              <a:t> 28    const isAppliance = APPLIANCE_KEYWORDS.some((kw) =&gt; lower.includes(kw));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날씨 의도를 우선 확인하고 기기 온도 질문과 구분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날씨는 최신 캐시로 답하고, 가전 질문은 촬영을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현재 일반 대화는 준비된 응답입니다. 생성형 대화 모델 연동은 향후 확장 과제입니다.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04  /  09     원본 코드 열기 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05 | 사진 분석 결과를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확인되지 않은 응답을 기기 조작 안내로 표시하지 않도록 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src/services/applianceService.ts  ·  L84–92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84      if (data?.success !== true || data.needs_new_photo === true)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85        return { success: false, device_name: "", instructions: [], needs_new_photo: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data?.needs_new_photo === true,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86          error_guide: typeof data?.error_guide === "string" ? data.error_guide :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"사진에서 기기를 확인하지 못했어요. 다시 찍어주세요." };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87      }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88      if (typeof data.device_name !== "string" || !data.device_name.trim() ||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89        !Array.isArray(data.instructions) || data.instructions.length &lt; 1 ||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data.instructions.length &gt; 3 ||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90        !data.instructions.every((step: unknown) =&gt; typeof step === "string" &amp;&amp;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step.trim().length &gt; 0))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91        throw new Error("분석 응답 형식이 올바르지 않습니다.");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92     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성공 여부·재촬영 여부·기기명·1~3단계 안내 형식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실패 시 오류 또는 재촬영을 안내하고 임의의 사용법을 만들지 않음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프런트엔드는 응답 계약을 검증합니다. 실제 기기 식별 정확성은 운영 모델로 별도 평가해야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05  /  09     원본 코드 열기 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06 | 늦게 온 날씨 응답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지역을 빠르게 바꿔도 이전 요청 결과가 새 지역을 덮지 않도록 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src/hooks/useWeather.ts  ·  L28–47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28      request.current?.abort()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29      const controller = new AbortController()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30      const id = ++sequence.current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31      request.current = controller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32      setLoading(true)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33      setError("")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34      const timeout = setTimeout(() =&gt; controller.abort(), 8000)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35      try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36        const result = await fetchCurrentWeather(location, controller.signal)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37        if (id !== sequence.current) return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38        setWeather(result)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39        cacheWeather(result)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40        setNow(Date.now())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41      } catch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42        if (id === sequence.current)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43          setError("날씨를 가져오지 못했어요. 잠시 뒤 새로고침해 주세요.")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44      } finally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45        clearTimeout(timeout)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46        if (id === sequence.current) setLoading(false)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30" b="0">
                <a:solidFill>
                  <a:srgbClr val="EDF5F0"/>
                </a:solidFill>
                <a:latin typeface="DejaVu Sans Mono"/>
              </a:defRPr>
            </a:pPr>
            <a:r>
              <a:rPr sz="1030" b="0">
                <a:solidFill>
                  <a:srgbClr val="EDF5F0"/>
                </a:solidFill>
                <a:latin typeface="DejaVu Sans Mono"/>
              </a:rPr>
              <a:t> 47     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이전 요청 취소 + 요청 순번 확인 + 8초 타임아웃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선택한 지역의 날씨와 화면 상태를 일치시킴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요청 실패는 마지막 자료를 유지하며 표시합니다. 30분 초과 자료는 오래된 정보로 구분합니다.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06  /  09     원본 코드 열기 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07 | 서버가 발급한 사용자 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원격 데이터 소유자는 브라우저가 임의 생성한 ID와 구분합니다.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src/services/userService.ts  ·  L27–37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27        const { data: session, error: sessionError } =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28          await supabase.auth.getSession()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29        if (sessionError) throw sessionError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30        if (session.session)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31          const { data, error } = await supabase.auth.getUser()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32          if (error) throw error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33          return data.user.id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34        }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35        const { data, error } = await supabase.auth.signInAnonymously()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36        if (error) throw error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148" b="0">
                <a:solidFill>
                  <a:srgbClr val="EDF5F0"/>
                </a:solidFill>
                <a:latin typeface="DejaVu Sans Mono"/>
              </a:defRPr>
            </a:pPr>
            <a:r>
              <a:rPr sz="1148" b="0">
                <a:solidFill>
                  <a:srgbClr val="EDF5F0"/>
                </a:solidFill>
                <a:latin typeface="DejaVu Sans Mono"/>
              </a:rPr>
              <a:t> 37        return data.user?.id ?? null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기존 세션의 사용자를 확인하고 없으면 익명 인증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가입 절차 부담을 낮추면서 인증된 사용자로 원격 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익명 세션은 브라우저에 연결됩니다. 기기 간 복구·공유는 영구 계정 설계가 필요합니다.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07  /  09     원본 코드 열기 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08 | 소유자 정책과 비공개 음성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DB 접근 정책과 파일 경로 정책을 함께 적용합니다.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supabase_schema.sql  ·  L110–111, L141–143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110  CREATE POLICY "owner_access" ON public.memories FOR ALL TO authenticated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111  USING (user_id = (select auth.uid())::text) WITH CHECK (user_id = (select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auth.uid())::text);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// …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141  CREATE POLICY "memory_audio_owner" ON storage.objects FOR ALL TO authenticated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142  USING (bucket_id = 'memory-audio' AND (storage.foldername(name))[1] = (select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auth.uid())::text)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143  WITH CHECK (bucket_id = 'memory-audio' AND (storage.foldername(name))[1] = (select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977" b="0">
                <a:solidFill>
                  <a:srgbClr val="EDF5F0"/>
                </a:solidFill>
                <a:latin typeface="DejaVu Sans Mono"/>
              </a:defRPr>
            </a:pPr>
            <a:r>
              <a:rPr sz="977" b="0">
                <a:solidFill>
                  <a:srgbClr val="EDF5F0"/>
                </a:solidFill>
                <a:latin typeface="DejaVu Sans Mono"/>
              </a:rPr>
              <a:t>     auth.uid())::text);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auth.uid()로 DB 소유자와 음성 폴더 소유자 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다른 사용자의 기억과 음성에 대한 접근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음성은 비공개 버킷에 보관하며 재생용 URL은 300초로 발급합니다. 실제 Supabase 설정은 별도 적용합니다.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08  /  09     원본 코드 열기 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03 ENGINEERING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핵심 코드 09 | 끝점 터치만으로 통과하지 않기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선 긋기 활동은 시작 위치와 경로 진행을 검사합니다.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6995160" cy="3977639"/>
          </a:xfrm>
          <a:prstGeom prst="roundRect">
            <a:avLst>
              <a:gd name="adj" fmla="val 13000"/>
            </a:avLst>
          </a:prstGeom>
          <a:solidFill>
            <a:srgbClr val="20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A8D8BA"/>
                </a:solidFill>
                <a:latin typeface="Noto Sans CJK KR"/>
              </a:defRPr>
            </a:pPr>
            <a:r>
              <a:rPr sz="1000" b="1">
                <a:solidFill>
                  <a:srgbClr val="A8D8BA"/>
                </a:solidFill>
                <a:latin typeface="Noto Sans CJK KR"/>
              </a:rPr>
              <a:t>src/App.tsx  ·  L703–712, L738–741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61488"/>
            <a:ext cx="6510528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703    const handlePointerDown = (e: React.PointerEvent&lt;HTMLCanvasElement&gt;) =&gt;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704      const canvas = e.currentTarget;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705      const rect = canvas.getBoundingClientRect();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706      const x = e.clientX - rect.left;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707      const y = e.clientY - rect.top;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708      if (Math.hypot(x - 45, y - canvas.height / 2) &gt; 24) return;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709      canvas.setPointerCapture(e.pointerId);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710      isDrawingRef.current = true;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711      previousPoint.current = { x: 45, y: canvas.height / 2 };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712      progress.current = 45;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     // …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738      if (progress.current &gt;= endX - 8 &amp;&amp; Math.hypot(x - endX, y - endY) &lt; 24) {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739        isDrawingRef.current = false;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740        soundSuccess(); buzz(45); onLevelComplete();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024" b="0">
                <a:solidFill>
                  <a:srgbClr val="EDF5F0"/>
                </a:solidFill>
                <a:latin typeface="DejaVu Sans Mono"/>
              </a:defRPr>
            </a:pPr>
            <a:r>
              <a:rPr sz="1024" b="0">
                <a:solidFill>
                  <a:srgbClr val="EDF5F0"/>
                </a:solidFill>
                <a:latin typeface="DejaVu Sans Mono"/>
              </a:rPr>
              <a:t>741     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14884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무엇을 구현했나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551176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시작점 거리 확인·포인터 캡처·진행률과 도착점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36499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사용자에게 연결되는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767328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시작부터 경로를 따라 이동한 경우에만 단계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59028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설계 판단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992624"/>
            <a:ext cx="373075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0253E"/>
                </a:solidFill>
                <a:latin typeface="Noto Sans CJK KR"/>
              </a:defRPr>
            </a:pPr>
            <a:r>
              <a:rPr sz="1500" b="0">
                <a:solidFill>
                  <a:srgbClr val="20253E"/>
                </a:solidFill>
                <a:latin typeface="Noto Sans CJK KR"/>
              </a:rPr>
              <a:t>이동 중에는 보간한 점의 경로 이탈·과도한 역행도 검사합니다. 핵심은 활동 의도에 맞는 완료 조건입니다.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080760"/>
            <a:ext cx="9966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  <a:hlinkClick r:id="rId2"/>
              </a:rPr>
              <a:t>실제 코드 발췌 (줄바꿈 조정)  ·  09  /  09     원본 코드 열기 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04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검증 결과 | 실행 가능한 구현 근거를 남기다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동일한 코드 기준에서 빌드와 기존 회귀 검사를 실행했습니다.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31720"/>
            <a:ext cx="3364992" cy="299923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600" b="1">
                <a:solidFill>
                  <a:srgbClr val="26734D"/>
                </a:solidFill>
                <a:latin typeface="Noto Sans CJK KR"/>
              </a:defRPr>
            </a:pPr>
            <a:r>
              <a:rPr sz="4600" b="1">
                <a:solidFill>
                  <a:srgbClr val="26734D"/>
                </a:solidFill>
                <a:latin typeface="Noto Sans CJK KR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253E"/>
                </a:solidFill>
                <a:latin typeface="Noto Sans CJK KR"/>
              </a:defRPr>
            </a:pPr>
            <a:r>
              <a:rPr sz="1700" b="1">
                <a:solidFill>
                  <a:srgbClr val="20253E"/>
                </a:solidFill>
                <a:latin typeface="Noto Sans CJK KR"/>
              </a:rPr>
              <a:t>브라우저 테스트 통과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976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로컬 기억·음성·날씨·훈련</a:t>
            </a:r>
          </a:p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동기화 재시도·영상 동작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2331720"/>
            <a:ext cx="3364992" cy="299923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624328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600" b="1">
                <a:solidFill>
                  <a:srgbClr val="26734D"/>
                </a:solidFill>
                <a:latin typeface="Noto Sans CJK KR"/>
              </a:defRPr>
            </a:pPr>
            <a:r>
              <a:rPr sz="4600" b="1">
                <a:solidFill>
                  <a:srgbClr val="26734D"/>
                </a:solidFill>
                <a:latin typeface="Noto Sans CJK K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65760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253E"/>
                </a:solidFill>
                <a:latin typeface="Noto Sans CJK KR"/>
              </a:defRPr>
            </a:pPr>
            <a:r>
              <a:rPr sz="1700" b="1">
                <a:solidFill>
                  <a:srgbClr val="20253E"/>
                </a:solidFill>
                <a:latin typeface="Noto Sans CJK KR"/>
              </a:rPr>
              <a:t>보안·배포 테스트 통과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42976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PGlite 접근 정책·SQL 재실행</a:t>
            </a:r>
          </a:p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환경변수·실제 미디어 검사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0456" y="2331720"/>
            <a:ext cx="3364992" cy="299923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624328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600" b="1">
                <a:solidFill>
                  <a:srgbClr val="26734D"/>
                </a:solidFill>
                <a:latin typeface="Noto Sans CJK KR"/>
              </a:defRPr>
            </a:pPr>
            <a:r>
              <a:rPr sz="4600" b="1">
                <a:solidFill>
                  <a:srgbClr val="26734D"/>
                </a:solidFill>
                <a:latin typeface="Noto Sans CJK KR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65760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20253E"/>
                </a:solidFill>
                <a:latin typeface="Noto Sans CJK KR"/>
              </a:defRPr>
            </a:pPr>
            <a:r>
              <a:rPr sz="1700" b="1">
                <a:solidFill>
                  <a:srgbClr val="20253E"/>
                </a:solidFill>
                <a:latin typeface="Noto Sans CJK KR"/>
              </a:rPr>
              <a:t>타입 검사 + 배포 빌드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4297680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npm run build:deploy</a:t>
            </a:r>
          </a:p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프로덕션 정적 파일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68756E"/>
                </a:solidFill>
                <a:latin typeface="Noto Sans CJK KR"/>
              </a:defRPr>
            </a:pPr>
            <a:r>
              <a:rPr sz="1400" b="0">
                <a:solidFill>
                  <a:srgbClr val="68756E"/>
                </a:solidFill>
                <a:latin typeface="Noto Sans CJK KR"/>
              </a:rPr>
              <a:t>외부 응답과 장치 권한은 일부 모킹합니다. 실제 Supabase·사진 분석 정확도·고령 사용자 사용성 검증은 별도 과제입니다.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04 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현재 범위 | 구현과 운영 연결을 함께 설명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발표에서 보여줄 수 있는 동작과 추가 준비가 필요한 부분을 분명히 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103120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67712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기본 앱·훈련·기억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26771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로컬 실행·브라우저 검사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20" y="2249424"/>
            <a:ext cx="128016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95560" y="2299716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구현·검증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871215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035808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날씨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03580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조회·캐시·지역 선택 구현 / 실시간 접근은 환경별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4120" y="3017520"/>
            <a:ext cx="128016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95560" y="306781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연결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39311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803903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Supabase 동기화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3803903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인증·RLS·음성 저장 코드 / 모킹·PGlite 검사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04120" y="3785615"/>
            <a:ext cx="128016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5560" y="3835907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운영 설정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407408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57200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사진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1800" y="457200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촬영·웹훅·응답 검증 / 실제 분석 백엔드 별도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4120" y="4553712"/>
            <a:ext cx="128016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460400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서버 연결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175504"/>
            <a:ext cx="11018520" cy="667512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34009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6734D"/>
                </a:solidFill>
                <a:latin typeface="Noto Sans CJK KR"/>
              </a:defRPr>
            </a:pPr>
            <a:r>
              <a:rPr sz="1400" b="1">
                <a:solidFill>
                  <a:srgbClr val="26734D"/>
                </a:solidFill>
                <a:latin typeface="Noto Sans CJK KR"/>
              </a:rPr>
              <a:t>대화·사용자 효과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534009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준비된 응답 / 실제 사용자 성과는 미측정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04120" y="5321808"/>
            <a:ext cx="1280160" cy="36576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53721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향후 검증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05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다음 목표 | 운영 연결, 사용자 검증, 개인화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기술적 동작에서 실제 사용자의 지속적인 참여로 검증 범위를 넓힙니다.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240280"/>
            <a:ext cx="3337560" cy="35204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423160"/>
            <a:ext cx="2935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01  운영 안정화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916936"/>
            <a:ext cx="2935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실환경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593592"/>
            <a:ext cx="2935224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Supabase 익명 인증·RLS 적용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사진 분석 HTTPS·CORS 확인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실기기 권한·오프라인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2240280"/>
            <a:ext cx="3337560" cy="35204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423160"/>
            <a:ext cx="2935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02  사용성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16936"/>
            <a:ext cx="2935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어르신과 함께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593592"/>
            <a:ext cx="2935224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핵심 행동 완료율·소요 시간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오류 경험·재시도 성공률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글씨·버튼·문구 개선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2240280"/>
            <a:ext cx="3337560" cy="35204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solidFill>
              <a:srgbClr val="DCE5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2423160"/>
            <a:ext cx="2935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26734D"/>
                </a:solidFill>
                <a:latin typeface="Noto Sans CJK KR"/>
              </a:defRPr>
            </a:pPr>
            <a:r>
              <a:rPr sz="1100" b="1">
                <a:solidFill>
                  <a:srgbClr val="26734D"/>
                </a:solidFill>
                <a:latin typeface="Noto Sans CJK KR"/>
              </a:rPr>
              <a:t>03  확장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2916936"/>
            <a:ext cx="2935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20253E"/>
                </a:solidFill>
                <a:latin typeface="Noto Sans CJK KR"/>
              </a:defRPr>
            </a:pPr>
            <a:r>
              <a:rPr sz="2100" b="1">
                <a:solidFill>
                  <a:srgbClr val="20253E"/>
                </a:solidFill>
                <a:latin typeface="Noto Sans CJK KR"/>
              </a:rPr>
              <a:t>기록의 연속성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2" y="3593592"/>
            <a:ext cx="2935224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영구 로그인·계정 복구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기기 간 기억 연동</a:t>
            </a:r>
          </a:p>
          <a:p>
            <a:pPr>
              <a:spcAft>
                <a:spcPts val="500"/>
              </a:spcAft>
              <a:defRPr sz="1600" b="0">
                <a:solidFill>
                  <a:srgbClr val="68756E"/>
                </a:solidFill>
                <a:latin typeface="Noto Sans CJK KR"/>
              </a:defRPr>
            </a:pPr>
            <a:r>
              <a:rPr sz="1600" b="0">
                <a:solidFill>
                  <a:srgbClr val="68756E"/>
                </a:solidFill>
                <a:latin typeface="Noto Sans CJK KR"/>
              </a:rPr>
              <a:t>대화 모델·개인화 검토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3B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3B64B"/>
                </a:solidFill>
                <a:latin typeface="Noto Sans CJK KR"/>
              </a:defRPr>
            </a:pPr>
            <a:r>
              <a:rPr sz="1000" b="1">
                <a:solidFill>
                  <a:srgbClr val="F3B64B"/>
                </a:solidFill>
                <a:latin typeface="Noto Sans CJK KR"/>
              </a:rPr>
              <a:t>SENIOR HELPER   /   05 SHOW, DON’T JUST TELL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FFFFFF"/>
                </a:solidFill>
                <a:latin typeface="Noto Sans CJK KR"/>
              </a:defRPr>
            </a:pPr>
            <a:r>
              <a:rPr sz="2900" b="1">
                <a:solidFill>
                  <a:srgbClr val="FFFFFF"/>
                </a:solidFill>
                <a:latin typeface="Noto Sans CJK KR"/>
              </a:rPr>
              <a:t>작은 화면 속 경험을, 짧고 선명하게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D4E5D8"/>
                </a:solidFill>
                <a:latin typeface="Noto Sans CJK KR"/>
              </a:defRPr>
            </a:pPr>
            <a:r>
              <a:rPr sz="1300" b="0">
                <a:solidFill>
                  <a:srgbClr val="D4E5D8"/>
                </a:solidFill>
                <a:latin typeface="Noto Sans CJK KR"/>
              </a:rPr>
              <a:t>프로젝트 소개 숏폼으로 시니어 헬퍼를 만나보세요.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456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D4E5D8"/>
                </a:solidFill>
                <a:latin typeface="Noto Sans CJK KR"/>
              </a:defRPr>
            </a:pPr>
            <a:r>
              <a:rPr sz="800" b="0">
                <a:solidFill>
                  <a:srgbClr val="D4E5D8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F3B64B"/>
                </a:solidFill>
                <a:latin typeface="Noto Sans CJK KR"/>
              </a:defRPr>
            </a:pPr>
            <a:r>
              <a:rPr sz="1200" b="1">
                <a:solidFill>
                  <a:srgbClr val="F3B64B"/>
                </a:solidFill>
                <a:latin typeface="Noto Sans CJK KR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6995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FFFFFF"/>
                </a:solidFill>
                <a:latin typeface="Noto Sans CJK KR"/>
              </a:defRPr>
            </a:pPr>
            <a:r>
              <a:rPr sz="3100" b="1">
                <a:solidFill>
                  <a:srgbClr val="FFFFFF"/>
                </a:solidFill>
                <a:latin typeface="Noto Sans CJK KR"/>
              </a:rPr>
              <a:t>설명에서 경험으로</a:t>
            </a:r>
          </a:p>
          <a:p>
            <a:pPr>
              <a:spcAft>
                <a:spcPts val="500"/>
              </a:spcAft>
              <a:defRPr sz="3100" b="1">
                <a:solidFill>
                  <a:srgbClr val="FFFFFF"/>
                </a:solidFill>
                <a:latin typeface="Noto Sans CJK KR"/>
              </a:defRPr>
            </a:pPr>
            <a:r>
              <a:rPr sz="3100" b="1">
                <a:solidFill>
                  <a:srgbClr val="FFFFFF"/>
                </a:solidFill>
                <a:latin typeface="Noto Sans CJK KR"/>
              </a:rPr>
              <a:t>이어지는 한 번의 클릭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D4E5D8"/>
                </a:solidFill>
                <a:latin typeface="Noto Sans CJK KR"/>
              </a:defRPr>
            </a:pPr>
            <a:r>
              <a:rPr sz="2000" b="0">
                <a:solidFill>
                  <a:srgbClr val="D4E5D8"/>
                </a:solidFill>
                <a:latin typeface="Noto Sans CJK KR"/>
              </a:rPr>
              <a:t>발표 → 숏폼 → 실제 앱</a:t>
            </a:r>
          </a:p>
          <a:p>
            <a:pPr>
              <a:spcAft>
                <a:spcPts val="500"/>
              </a:spcAft>
              <a:defRPr sz="2000" b="0">
                <a:solidFill>
                  <a:srgbClr val="D4E5D8"/>
                </a:solidFill>
                <a:latin typeface="Noto Sans CJK KR"/>
              </a:defRPr>
            </a:pPr>
            <a:r>
              <a:rPr sz="2000" b="0">
                <a:solidFill>
                  <a:srgbClr val="D4E5D8"/>
                </a:solidFill>
                <a:latin typeface="Noto Sans CJK KR"/>
              </a:rPr>
              <a:t>관심을 서비스 체험으로 연결합니다.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731520" y="4901184"/>
            <a:ext cx="3474720" cy="502920"/>
          </a:xfrm>
          <a:prstGeom prst="roundRect">
            <a:avLst>
              <a:gd name="adj" fmla="val 13000"/>
            </a:avLst>
          </a:prstGeom>
          <a:solidFill>
            <a:srgbClr val="F3B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020056"/>
            <a:ext cx="32918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0253E"/>
                </a:solidFill>
                <a:latin typeface="Noto Sans CJK KR"/>
              </a:defRPr>
            </a:pPr>
            <a:r>
              <a:rPr sz="1300" b="1">
                <a:solidFill>
                  <a:srgbClr val="20253E"/>
                </a:solidFill>
                <a:latin typeface="Noto Sans CJK KR"/>
                <a:hlinkClick r:id="rId2"/>
              </a:rPr>
              <a:t>YouTube Shorts 보러 가기 ↗</a:t>
            </a:r>
          </a:p>
        </p:txBody>
      </p:sp>
      <p:pic>
        <p:nvPicPr>
          <p:cNvPr id="13" name="Picture 12" descr="qr-sh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313432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50749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Noto Sans CJK KR"/>
              </a:defRPr>
            </a:pPr>
            <a:r>
              <a:rPr sz="1600" b="1">
                <a:solidFill>
                  <a:srgbClr val="FFFFFF"/>
                </a:solidFill>
                <a:latin typeface="Noto Sans CJK KR"/>
              </a:rPr>
              <a:t>휴대폰으로 QR 스캔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D4E5D8"/>
                </a:solidFill>
                <a:latin typeface="Noto Sans CJK KR"/>
              </a:defRPr>
            </a:pPr>
            <a:r>
              <a:rPr sz="1100" b="0">
                <a:solidFill>
                  <a:srgbClr val="D4E5D8"/>
                </a:solidFill>
                <a:latin typeface="Noto Sans CJK KR"/>
                <a:hlinkClick r:id="rId2"/>
              </a:rPr>
              <a:t>youtube.com/shorts/F8F46lj6yV8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05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직접 사용해 보세요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발표 마지막은 네 가지 핵심 경험을 따라가는 짧은 시연으로 마무리합니다.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26734D"/>
                </a:solidFill>
                <a:latin typeface="Noto Sans CJK KR"/>
              </a:defRPr>
            </a:pPr>
            <a:r>
              <a:rPr sz="1900" b="1">
                <a:solidFill>
                  <a:srgbClr val="26734D"/>
                </a:solidFill>
                <a:latin typeface="Noto Sans CJK KR"/>
              </a:rPr>
              <a:t>01   손자·손녀 선택 → 오늘의 두뇌 운동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71800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20253E"/>
                </a:solidFill>
                <a:latin typeface="Noto Sans CJK KR"/>
              </a:defRPr>
            </a:pPr>
            <a:r>
              <a:rPr sz="1900" b="0">
                <a:solidFill>
                  <a:srgbClr val="20253E"/>
                </a:solidFill>
                <a:latin typeface="Noto Sans CJK KR"/>
              </a:rPr>
              <a:t>02   오늘의 기억 → 글로 저장하고 다시 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79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20253E"/>
                </a:solidFill>
                <a:latin typeface="Noto Sans CJK KR"/>
              </a:defRPr>
            </a:pPr>
            <a:r>
              <a:rPr sz="1900" b="0">
                <a:solidFill>
                  <a:srgbClr val="20253E"/>
                </a:solidFill>
                <a:latin typeface="Noto Sans CJK KR"/>
              </a:rPr>
              <a:t>03   날씨 상세 → 지역 선택과 상태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51959"/>
            <a:ext cx="6675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20253E"/>
                </a:solidFill>
                <a:latin typeface="Noto Sans CJK KR"/>
              </a:defRPr>
            </a:pPr>
            <a:r>
              <a:rPr sz="1900" b="0">
                <a:solidFill>
                  <a:srgbClr val="20253E"/>
                </a:solidFill>
                <a:latin typeface="Noto Sans CJK KR"/>
              </a:rPr>
              <a:t>04   기기 사진 → 촬영과 연결 상태 안내</a:t>
            </a:r>
          </a:p>
        </p:txBody>
      </p:sp>
      <p:sp>
        <p:nvSpPr>
          <p:cNvPr id="13" name="Rounded Rectangle 12">
            <a:hlinkClick r:id="rId2"/>
          </p:cNvPr>
          <p:cNvSpPr/>
          <p:nvPr/>
        </p:nvSpPr>
        <p:spPr>
          <a:xfrm>
            <a:off x="731520" y="5257800"/>
            <a:ext cx="2834640" cy="502920"/>
          </a:xfrm>
          <a:prstGeom prst="roundRect">
            <a:avLst>
              <a:gd name="adj" fmla="val 13000"/>
            </a:avLst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76672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rPr sz="1300" b="1">
                <a:solidFill>
                  <a:srgbClr val="FFFFFF"/>
                </a:solidFill>
                <a:latin typeface="Noto Sans CJK KR"/>
                <a:hlinkClick r:id="rId2"/>
              </a:rPr>
              <a:t>서비스 열기 ↗</a:t>
            </a:r>
          </a:p>
        </p:txBody>
      </p:sp>
      <p:sp>
        <p:nvSpPr>
          <p:cNvPr id="15" name="Rounded Rectangle 14">
            <a:hlinkClick r:id="rId3"/>
          </p:cNvPr>
          <p:cNvSpPr/>
          <p:nvPr/>
        </p:nvSpPr>
        <p:spPr>
          <a:xfrm>
            <a:off x="3749039" y="5257800"/>
            <a:ext cx="2834640" cy="502920"/>
          </a:xfrm>
          <a:prstGeom prst="roundRect">
            <a:avLst>
              <a:gd name="adj" fmla="val 13000"/>
            </a:avLst>
          </a:prstGeom>
          <a:solidFill>
            <a:srgbClr val="EEF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79" y="5376672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300" b="1">
                <a:solidFill>
                  <a:srgbClr val="26734D"/>
                </a:solidFill>
                <a:latin typeface="Noto Sans CJK KR"/>
              </a:defRPr>
            </a:pPr>
            <a:r>
              <a:rPr sz="1300" b="1">
                <a:solidFill>
                  <a:srgbClr val="26734D"/>
                </a:solidFill>
                <a:latin typeface="Noto Sans CJK KR"/>
                <a:hlinkClick r:id="rId3"/>
              </a:rPr>
              <a:t>GitHub 코드 보기 ↗</a:t>
            </a:r>
          </a:p>
        </p:txBody>
      </p:sp>
      <p:pic>
        <p:nvPicPr>
          <p:cNvPr id="17" name="Picture 16" descr="qr-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2377440"/>
            <a:ext cx="2240280" cy="2240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0" y="4983480"/>
            <a:ext cx="3840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  <a:hlinkClick r:id="rId2"/>
              </a:rPr>
              <a:t>senior-helper-seven.vercel.app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67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26734D"/>
                </a:solidFill>
                <a:latin typeface="Noto Sans CJK KR"/>
              </a:defRPr>
            </a:pPr>
            <a:r>
              <a:rPr sz="1000" b="1">
                <a:solidFill>
                  <a:srgbClr val="26734D"/>
                </a:solidFill>
                <a:latin typeface="Noto Sans CJK KR"/>
              </a:rPr>
              <a:t>SENIOR HELPER   /   APPENDIX /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58952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20253E"/>
                </a:solidFill>
                <a:latin typeface="Noto Sans CJK KR"/>
              </a:defRPr>
            </a:pPr>
            <a:r>
              <a:rPr sz="2900" b="1">
                <a:solidFill>
                  <a:srgbClr val="20253E"/>
                </a:solidFill>
                <a:latin typeface="Noto Sans CJK KR"/>
              </a:rPr>
              <a:t>자료와 분석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49047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68756E"/>
                </a:solidFill>
                <a:latin typeface="Noto Sans CJK KR"/>
              </a:defRPr>
            </a:pPr>
            <a:r>
              <a:rPr sz="1300" b="0">
                <a:solidFill>
                  <a:srgbClr val="68756E"/>
                </a:solidFill>
                <a:latin typeface="Noto Sans CJK KR"/>
              </a:rPr>
              <a:t>참고 자료의 구성은 활용하고, 프로젝트 사실은 현재 저장소 코드를 기준으로 작성했습니다.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DCE5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6519672"/>
            <a:ext cx="996696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68756E"/>
                </a:solidFill>
                <a:latin typeface="Noto Sans CJK KR"/>
              </a:defRPr>
            </a:pPr>
            <a:r>
              <a:rPr sz="800" b="0">
                <a:solidFill>
                  <a:srgbClr val="68756E"/>
                </a:solidFill>
                <a:latin typeface="Noto Sans CJK KR"/>
              </a:rPr>
              <a:t>시니어 헬퍼  ·  기획에서 구현까지  ·  2026.10.19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200" b="1">
                <a:solidFill>
                  <a:srgbClr val="26734D"/>
                </a:solidFill>
                <a:latin typeface="Noto Sans CJK KR"/>
              </a:defRPr>
            </a:pPr>
            <a:r>
              <a:rPr sz="1200" b="1">
                <a:solidFill>
                  <a:srgbClr val="26734D"/>
                </a:solidFill>
                <a:latin typeface="Noto Sans CJK KR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6734D"/>
                </a:solidFill>
                <a:latin typeface="Noto Sans CJK KR"/>
              </a:defRPr>
            </a:pPr>
            <a:r>
              <a:rPr sz="1500" b="1">
                <a:solidFill>
                  <a:srgbClr val="26734D"/>
                </a:solidFill>
                <a:latin typeface="Noto Sans CJK KR"/>
              </a:rPr>
              <a:t>참고 01 · where_u_go.pptx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21408"/>
            <a:ext cx="6812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기획 → 아키텍처 → 코드 → 검증 → 로드맵 구성과 코드 해설 방식 참고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6734D"/>
                </a:solidFill>
                <a:latin typeface="Noto Sans CJK KR"/>
              </a:defRPr>
            </a:pPr>
            <a:r>
              <a:rPr sz="1500" b="1">
                <a:solidFill>
                  <a:srgbClr val="26734D"/>
                </a:solidFill>
                <a:latin typeface="Noto Sans CJK KR"/>
              </a:rPr>
              <a:t>참고 02 · 첨부 HTML 발표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834640"/>
            <a:ext cx="6812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시니어 헬퍼의 기존 소개 내용과 모바일 홈 예시 화면 참고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2958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6734D"/>
                </a:solidFill>
                <a:latin typeface="Noto Sans CJK KR"/>
              </a:defRPr>
            </a:pPr>
            <a:r>
              <a:rPr sz="1500" b="1">
                <a:solidFill>
                  <a:srgbClr val="26734D"/>
                </a:solidFill>
                <a:latin typeface="Noto Sans CJK KR"/>
              </a:rPr>
              <a:t>주요 소스 · 현재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47872"/>
            <a:ext cx="6812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src/App.tsx · services · hooks · lib · supabase_schema.sql ·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4281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6734D"/>
                </a:solidFill>
                <a:latin typeface="Noto Sans CJK KR"/>
              </a:defRPr>
            </a:pPr>
            <a:r>
              <a:rPr sz="1500" b="1">
                <a:solidFill>
                  <a:srgbClr val="26734D"/>
                </a:solidFill>
                <a:latin typeface="Noto Sans CJK KR"/>
              </a:rPr>
              <a:t>검증 · 프로젝트 명령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261103"/>
            <a:ext cx="6812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npm test / npm run build:deploy · 코드 기준 4f16596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560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26734D"/>
                </a:solidFill>
                <a:latin typeface="Noto Sans CJK KR"/>
              </a:defRPr>
            </a:pPr>
            <a:r>
              <a:rPr sz="1500" b="1">
                <a:solidFill>
                  <a:srgbClr val="26734D"/>
                </a:solidFill>
                <a:latin typeface="Noto Sans CJK KR"/>
              </a:rPr>
              <a:t>연결 · 사용자 제공 숏폼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974336"/>
            <a:ext cx="6812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0253E"/>
                </a:solidFill>
                <a:latin typeface="Noto Sans CJK KR"/>
              </a:defRPr>
            </a:pPr>
            <a:r>
              <a:rPr sz="1300" b="0">
                <a:solidFill>
                  <a:srgbClr val="20253E"/>
                </a:solidFill>
                <a:latin typeface="Noto Sans CJK KR"/>
              </a:rPr>
              <a:t>YouTube Shorts F8F46lj6yV8 · 클릭 버튼과 QR 코드 제공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698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68756E"/>
                </a:solidFill>
                <a:latin typeface="Noto Sans CJK KR"/>
              </a:defRPr>
            </a:pPr>
            <a:r>
              <a:rPr sz="1200" b="0">
                <a:solidFill>
                  <a:srgbClr val="68756E"/>
                </a:solidFill>
                <a:latin typeface="Noto Sans CJK KR"/>
              </a:rPr>
              <a:t>코드 슬라이드의 ‘원본 코드 열기’에서 해당 커밋의 실제 코드를 확인할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시니어 헬퍼 | 기획에서 구현까지</dc:title>
  <dc:subject>프로젝트 기획·목표·서비스 설계·핵심 코드 분석</dc:subject>
  <dc:creator>Senior Helper</dc:creator>
  <cp:keywords>Senior Helper, 시니어 헬퍼, 프로젝트, 코드 분석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